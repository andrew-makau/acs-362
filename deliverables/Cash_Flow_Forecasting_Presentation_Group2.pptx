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to ~10–12 minutes; Q&amp;A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24 months: shows seasonality; concise for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hardcoded numbers in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Cash Flow Forecasting Model (Group 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ACS 362A: Database Systems Group Project</a:t>
            </a:r>
          </a:p>
          <a:p>
            <a:r>
              <a:t>Instructor: Japheth Mursi, Ph.D.</a:t>
            </a:r>
          </a:p>
          <a:p>
            <a:r>
              <a:t>Team: 22-2207 – Makau Andrew Nzyoki; 22-2203 – Wanjihia Serena Wairati; 22-2245 – Dorothy Vugutsa; 22-2337 – Lewis Kagia; 23-2189 – Kitavi Christoph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 &amp; Scope</a:t>
            </a:r>
          </a:p>
          <a:p>
            <a:r>
              <a:t>Approach &amp; Assumptions</a:t>
            </a:r>
          </a:p>
          <a:p>
            <a:r>
              <a:t>Model Overview</a:t>
            </a:r>
          </a:p>
          <a:p>
            <a:r>
              <a:t>Results &amp; Scenarios</a:t>
            </a:r>
          </a:p>
          <a:p>
            <a:r>
              <a:t>Sensitivities, Risks</a:t>
            </a:r>
          </a:p>
          <a:p>
            <a: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24‑month cash forecast in KES</a:t>
            </a:r>
          </a:p>
          <a:p>
            <a:r>
              <a:t>Revenue, margins, opex, working capital, CapEx</a:t>
            </a:r>
          </a:p>
          <a:p>
            <a:r>
              <a:t>Base / Upside / Downside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(Model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Driver‑based; centralized Assumptions</a:t>
            </a:r>
          </a:p>
          <a:p>
            <a:r>
              <a:t>Schedules: Revenue, Opex, Working Capital, CapEx/Dep, Debt</a:t>
            </a:r>
          </a:p>
          <a:p>
            <a:r>
              <a:t>Consolidated Cash Flow; scenario switcher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Assumptions (Base)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Growth: 1.5% monthly</a:t>
            </a:r>
          </a:p>
          <a:p>
            <a:r>
              <a:t>COGS: 40% of revenue</a:t>
            </a:r>
          </a:p>
          <a:p>
            <a:r>
              <a:t>DSO/DPO/InvDays: 45 / 30 / 60</a:t>
            </a:r>
          </a:p>
          <a:p>
            <a:r>
              <a:t>Tax: 30%; Interest: 8% if debt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Base Closing Cash</a:t>
            </a:r>
          </a:p>
        </p:txBody>
      </p:sp>
      <p:pic>
        <p:nvPicPr>
          <p:cNvPr id="3" name="Picture 2" descr="closing_cash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Comparison: Closing Cash</a:t>
            </a:r>
          </a:p>
        </p:txBody>
      </p:sp>
      <p:pic>
        <p:nvPicPr>
          <p:cNvPr id="3" name="Picture 2" descr="closing_cash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Capital Components</a:t>
            </a:r>
          </a:p>
        </p:txBody>
      </p:sp>
      <p:pic>
        <p:nvPicPr>
          <p:cNvPr id="3" name="Picture 2" descr="wc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583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DSO; negotiate DPO</a:t>
            </a:r>
          </a:p>
          <a:p>
            <a:r>
              <a:t>Phase CapEx after trough</a:t>
            </a:r>
          </a:p>
          <a:p>
            <a:r>
              <a:t>Maintain buffer via revolving facility</a:t>
            </a:r>
          </a:p>
          <a:p>
            <a:r>
              <a:t>Update actuals monthly; refresh scenarios quarterly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